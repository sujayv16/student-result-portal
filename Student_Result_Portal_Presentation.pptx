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eague Spartan"/>
      <p:regular r:id="rId16"/>
      <p:bold r:id="rId17"/>
    </p:embeddedFont>
    <p:embeddedFont>
      <p:font typeface="Quicksand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BygcFxGHVvrWxhEBO1mFc4mn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eagueSpartan-bold.fntdata"/><Relationship Id="rId16" Type="http://schemas.openxmlformats.org/officeDocument/2006/relationships/font" Target="fonts/LeagueSpartan-regular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Quicksa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hyperlink" Target="https://drive.google.com/file/d/17ppnOVlpifkI9gu8Vg2T-d-Dhx_anhPd/view" TargetMode="External"/><Relationship Id="rId5" Type="http://schemas.openxmlformats.org/officeDocument/2006/relationships/hyperlink" Target="https://github.com/sujayv16/Student-Result-Portal" TargetMode="External"/><Relationship Id="rId6" Type="http://schemas.openxmlformats.org/officeDocument/2006/relationships/hyperlink" Target="https://www.canva.com/design/DAGWjvlfYVw/CQmPxaMXG-KPbJP-e0cqUw/edit?utm_content=DAGWjvlfYVw&amp;utm_campaign=designshare&amp;utm_medium=link2&amp;utm_source=sharebutton" TargetMode="External"/><Relationship Id="rId7" Type="http://schemas.openxmlformats.org/officeDocument/2006/relationships/hyperlink" Target="https://drive.google.com/file/d/17ppnOVlpifkI9gu8Vg2T-d-Dhx_anhPd/view" TargetMode="External"/><Relationship Id="rId8" Type="http://schemas.openxmlformats.org/officeDocument/2006/relationships/hyperlink" Target="https://drive.google.com/file/d/17ppnOVlpifkI9gu8Vg2T-d-Dhx_anhPd/vie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333337"/>
            <a:ext cx="18579442" cy="12378553"/>
          </a:xfrm>
          <a:custGeom>
            <a:rect b="b" l="l" r="r" t="t"/>
            <a:pathLst>
              <a:path extrusionOk="0" h="12378553" w="18579442">
                <a:moveTo>
                  <a:pt x="0" y="0"/>
                </a:moveTo>
                <a:lnTo>
                  <a:pt x="18579442" y="0"/>
                </a:lnTo>
                <a:lnTo>
                  <a:pt x="18579442" y="12378553"/>
                </a:lnTo>
                <a:lnTo>
                  <a:pt x="0" y="12378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-73452" y="-57150"/>
            <a:ext cx="15341768" cy="5761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4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21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 RESULT PORTAL 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0" y="4696328"/>
            <a:ext cx="6073106" cy="5476837"/>
          </a:xfrm>
          <a:custGeom>
            <a:rect b="b" l="l" r="r" t="t"/>
            <a:pathLst>
              <a:path extrusionOk="0" h="5476837" w="6073106">
                <a:moveTo>
                  <a:pt x="0" y="0"/>
                </a:moveTo>
                <a:lnTo>
                  <a:pt x="6073106" y="0"/>
                </a:lnTo>
                <a:lnTo>
                  <a:pt x="6073106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10800000">
            <a:off x="12506337" y="-333337"/>
            <a:ext cx="6073106" cy="5476837"/>
          </a:xfrm>
          <a:custGeom>
            <a:rect b="b" l="l" r="r" t="t"/>
            <a:pathLst>
              <a:path extrusionOk="0" h="5476837" w="6073106">
                <a:moveTo>
                  <a:pt x="0" y="0"/>
                </a:moveTo>
                <a:lnTo>
                  <a:pt x="6073105" y="0"/>
                </a:lnTo>
                <a:lnTo>
                  <a:pt x="6073105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6332284" y="8378016"/>
            <a:ext cx="5321937" cy="1871181"/>
            <a:chOff x="0" y="-57150"/>
            <a:chExt cx="1401662" cy="492822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1401662" cy="435672"/>
            </a:xfrm>
            <a:custGeom>
              <a:rect b="b" l="l" r="r" t="t"/>
              <a:pathLst>
                <a:path extrusionOk="0" h="435672" w="1401662">
                  <a:moveTo>
                    <a:pt x="0" y="0"/>
                  </a:moveTo>
                  <a:lnTo>
                    <a:pt x="1401662" y="0"/>
                  </a:lnTo>
                  <a:lnTo>
                    <a:pt x="1401662" y="435672"/>
                  </a:lnTo>
                  <a:lnTo>
                    <a:pt x="0" y="435672"/>
                  </a:lnTo>
                  <a:close/>
                </a:path>
              </a:pathLst>
            </a:custGeom>
            <a:solidFill>
              <a:srgbClr val="8EACBC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57150"/>
              <a:ext cx="1401662" cy="4928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11978071" y="5703074"/>
            <a:ext cx="7345630" cy="4583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5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25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Details: CSL3050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Dr Suchetana Chakraborty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Mentor TA:      Garvit Chugh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Members:V Sujay(B22CS063)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Nikshiptha S(B22CS050)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Aiswarya K(B22CS028)</a:t>
            </a:r>
            <a:endParaRPr/>
          </a:p>
          <a:p>
            <a:pPr indent="0" lvl="0" marL="0" marR="0" rtl="0" algn="just">
              <a:lnSpc>
                <a:spcPct val="1345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515027" y="8051725"/>
            <a:ext cx="5257946" cy="3001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5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link: </a:t>
            </a:r>
            <a:r>
              <a:rPr b="1" i="0" lang="en-US" sz="2084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Presentation link: </a:t>
            </a:r>
            <a:r>
              <a:rPr b="1" i="0" lang="en-US" sz="2084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CANVA LINK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video: </a:t>
            </a:r>
            <a:r>
              <a:rPr b="1" i="0" lang="en-US" sz="2084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DEMO</a:t>
            </a:r>
            <a:endParaRPr/>
          </a:p>
          <a:p>
            <a:pPr indent="0" lvl="0" marL="0" marR="0" rtl="0" algn="just">
              <a:lnSpc>
                <a:spcPct val="19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84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just">
              <a:lnSpc>
                <a:spcPct val="1345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84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9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"/>
          <p:cNvCxnSpPr/>
          <p:nvPr/>
        </p:nvCxnSpPr>
        <p:spPr>
          <a:xfrm>
            <a:off x="-111226" y="1020764"/>
            <a:ext cx="8868955" cy="7936"/>
          </a:xfrm>
          <a:prstGeom prst="straightConnector1">
            <a:avLst/>
          </a:prstGeom>
          <a:noFill/>
          <a:ln cap="flat" cmpd="sng" w="85725">
            <a:solidFill>
              <a:srgbClr val="3656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2"/>
          <p:cNvSpPr txBox="1"/>
          <p:nvPr/>
        </p:nvSpPr>
        <p:spPr>
          <a:xfrm>
            <a:off x="55752" y="-66675"/>
            <a:ext cx="10918491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514350" y="1430689"/>
            <a:ext cx="13833618" cy="8856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addresses the challenge of efficiently managing large-scale academic data using robust database functionalities.</a:t>
            </a:r>
            <a:endParaRPr/>
          </a:p>
          <a:p>
            <a:pPr indent="0" lvl="0" marL="0" marR="0" rtl="0" algn="l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Focuses on enhancing data integrity, security, and performance to improve the user experience in educational portals.</a:t>
            </a:r>
            <a:endParaRPr/>
          </a:p>
          <a:p>
            <a:pPr indent="0" lvl="0" marL="0" marR="0" rtl="0" algn="l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Focus:</a:t>
            </a:r>
            <a:endParaRPr/>
          </a:p>
          <a:p>
            <a:pPr indent="-336381" lvl="1" marL="672761" marR="0" rtl="0" algn="l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6"/>
              <a:buFont typeface="Arial"/>
              <a:buChar char="•"/>
            </a:pPr>
            <a:r>
              <a:rPr b="0" i="0" lang="en-US" sz="3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comprehensive database functionalities such as transaction management, error handling, prepared statements, indexing, and user authentication.</a:t>
            </a:r>
            <a:endParaRPr/>
          </a:p>
          <a:p>
            <a:pPr indent="0" lvl="0" marL="0" marR="0" rtl="0" algn="l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Relevance:</a:t>
            </a:r>
            <a:endParaRPr/>
          </a:p>
          <a:p>
            <a:pPr indent="-336381" lvl="1" marL="672761" marR="0" rtl="0" algn="l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6"/>
              <a:buFont typeface="Arial"/>
              <a:buChar char="•"/>
            </a:pPr>
            <a:r>
              <a:rPr b="0" i="0" lang="en-US" sz="3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for maintaining consistent and secure data in educational systems.</a:t>
            </a:r>
            <a:endParaRPr/>
          </a:p>
          <a:p>
            <a:pPr indent="-336381" lvl="1" marL="672761" marR="0" rtl="0" algn="l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6"/>
              <a:buFont typeface="Arial"/>
              <a:buChar char="•"/>
            </a:pPr>
            <a:r>
              <a:rPr b="0" i="0" lang="en-US" sz="31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Emphasizes the importance of optimized database operations in managing sensitive academic data.</a:t>
            </a:r>
            <a:endParaRPr/>
          </a:p>
          <a:p>
            <a:pPr indent="0" lvl="0" marL="0" marR="0" rtl="0" algn="l">
              <a:lnSpc>
                <a:spcPct val="158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 rot="-5127762">
            <a:off x="10316592" y="-5564768"/>
            <a:ext cx="8327368" cy="8405505"/>
            <a:chOff x="0" y="-57150"/>
            <a:chExt cx="693921" cy="700432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693921" cy="643282"/>
            </a:xfrm>
            <a:custGeom>
              <a:rect b="b" l="l" r="r" t="t"/>
              <a:pathLst>
                <a:path extrusionOk="0" h="643282" w="693921">
                  <a:moveTo>
                    <a:pt x="203200" y="0"/>
                  </a:moveTo>
                  <a:lnTo>
                    <a:pt x="693921" y="0"/>
                  </a:lnTo>
                  <a:lnTo>
                    <a:pt x="490721" y="643282"/>
                  </a:lnTo>
                  <a:lnTo>
                    <a:pt x="0" y="6432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101600" y="-57150"/>
              <a:ext cx="490721" cy="70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3144277" y="-964407"/>
            <a:ext cx="11709920" cy="11819796"/>
            <a:chOff x="0" y="-57150"/>
            <a:chExt cx="693921" cy="700432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693921" cy="643282"/>
            </a:xfrm>
            <a:custGeom>
              <a:rect b="b" l="l" r="r" t="t"/>
              <a:pathLst>
                <a:path extrusionOk="0" h="643282" w="693921">
                  <a:moveTo>
                    <a:pt x="203200" y="0"/>
                  </a:moveTo>
                  <a:lnTo>
                    <a:pt x="693921" y="0"/>
                  </a:lnTo>
                  <a:lnTo>
                    <a:pt x="490721" y="643282"/>
                  </a:lnTo>
                  <a:lnTo>
                    <a:pt x="0" y="6432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101600" y="-57150"/>
              <a:ext cx="490721" cy="70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 rot="6435412">
            <a:off x="11844969" y="2021897"/>
            <a:ext cx="12772728" cy="6208000"/>
          </a:xfrm>
          <a:custGeom>
            <a:rect b="b" l="l" r="r" t="t"/>
            <a:pathLst>
              <a:path extrusionOk="0" h="721336" w="1484122">
                <a:moveTo>
                  <a:pt x="1280922" y="0"/>
                </a:moveTo>
                <a:lnTo>
                  <a:pt x="0" y="0"/>
                </a:lnTo>
                <a:lnTo>
                  <a:pt x="203200" y="721336"/>
                </a:lnTo>
                <a:lnTo>
                  <a:pt x="1484122" y="721336"/>
                </a:lnTo>
                <a:lnTo>
                  <a:pt x="1280922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14327" l="0" r="0" t="-14328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58239" y="124163"/>
            <a:ext cx="13494367" cy="1130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5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Current Status</a:t>
            </a:r>
            <a:endParaRPr/>
          </a:p>
        </p:txBody>
      </p:sp>
      <p:cxnSp>
        <p:nvCxnSpPr>
          <p:cNvPr id="112" name="Google Shape;112;p3"/>
          <p:cNvCxnSpPr/>
          <p:nvPr/>
        </p:nvCxnSpPr>
        <p:spPr>
          <a:xfrm flipH="1" rot="10800000">
            <a:off x="-4997112" y="1168673"/>
            <a:ext cx="11150667" cy="42862"/>
          </a:xfrm>
          <a:prstGeom prst="straightConnector1">
            <a:avLst/>
          </a:prstGeom>
          <a:noFill/>
          <a:ln cap="flat" cmpd="sng" w="85725">
            <a:solidFill>
              <a:srgbClr val="36567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" name="Google Shape;113;p3"/>
          <p:cNvGrpSpPr/>
          <p:nvPr/>
        </p:nvGrpSpPr>
        <p:grpSpPr>
          <a:xfrm rot="10032373">
            <a:off x="11691460" y="-1453938"/>
            <a:ext cx="12379272" cy="12544423"/>
            <a:chOff x="0" y="-57150"/>
            <a:chExt cx="853424" cy="864809"/>
          </a:xfrm>
        </p:grpSpPr>
        <p:sp>
          <p:nvSpPr>
            <p:cNvPr id="114" name="Google Shape;114;p3"/>
            <p:cNvSpPr/>
            <p:nvPr/>
          </p:nvSpPr>
          <p:spPr>
            <a:xfrm>
              <a:off x="0" y="0"/>
              <a:ext cx="853424" cy="807659"/>
            </a:xfrm>
            <a:custGeom>
              <a:rect b="b" l="l" r="r" t="t"/>
              <a:pathLst>
                <a:path extrusionOk="0" h="807659" w="853424">
                  <a:moveTo>
                    <a:pt x="203200" y="0"/>
                  </a:moveTo>
                  <a:lnTo>
                    <a:pt x="853424" y="0"/>
                  </a:lnTo>
                  <a:lnTo>
                    <a:pt x="650224" y="807659"/>
                  </a:lnTo>
                  <a:lnTo>
                    <a:pt x="0" y="80765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15" name="Google Shape;115;p3"/>
            <p:cNvSpPr txBox="1"/>
            <p:nvPr/>
          </p:nvSpPr>
          <p:spPr>
            <a:xfrm>
              <a:off x="101600" y="-57150"/>
              <a:ext cx="650224" cy="864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3"/>
          <p:cNvSpPr txBox="1"/>
          <p:nvPr/>
        </p:nvSpPr>
        <p:spPr>
          <a:xfrm>
            <a:off x="502452" y="1489843"/>
            <a:ext cx="18020218" cy="7627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7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5102" lvl="1" marL="750205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Management: </a:t>
            </a: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ACID compliance.</a:t>
            </a:r>
            <a:endParaRPr/>
          </a:p>
          <a:p>
            <a:pPr indent="-375102" lvl="1" marL="750205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Statements:</a:t>
            </a: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Prevents SQL injection.</a:t>
            </a:r>
            <a:endParaRPr/>
          </a:p>
          <a:p>
            <a:pPr indent="-375102" lvl="1" marL="750205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Handling:</a:t>
            </a: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Includes rollback mechanisms.</a:t>
            </a:r>
            <a:endParaRPr/>
          </a:p>
          <a:p>
            <a:pPr indent="-375102" lvl="1" marL="750205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Indexing:</a:t>
            </a: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Speeds up data retrieval.</a:t>
            </a:r>
            <a:endParaRPr/>
          </a:p>
          <a:p>
            <a:pPr indent="-375102" lvl="1" marL="750205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Validation:</a:t>
            </a: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valid data entry.</a:t>
            </a:r>
            <a:endParaRPr/>
          </a:p>
          <a:p>
            <a:pPr indent="-375102" lvl="1" marL="750205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Authentication: </a:t>
            </a: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Secures sensitive data.</a:t>
            </a:r>
            <a:endParaRPr/>
          </a:p>
          <a:p>
            <a:pPr indent="-375102" lvl="1" marL="750205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Query Building: </a:t>
            </a: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Customizable data retrieval.</a:t>
            </a:r>
            <a:endParaRPr/>
          </a:p>
          <a:p>
            <a:pPr indent="0" lvl="0" marL="0" marR="0" rtl="0" algn="l">
              <a:lnSpc>
                <a:spcPct val="196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 rot="5484267">
            <a:off x="11021683" y="547770"/>
            <a:ext cx="13011397" cy="8678290"/>
          </a:xfrm>
          <a:custGeom>
            <a:rect b="b" l="l" r="r" t="t"/>
            <a:pathLst>
              <a:path extrusionOk="0" h="983236" w="1474170">
                <a:moveTo>
                  <a:pt x="1270970" y="0"/>
                </a:moveTo>
                <a:lnTo>
                  <a:pt x="0" y="0"/>
                </a:lnTo>
                <a:lnTo>
                  <a:pt x="203200" y="983236"/>
                </a:lnTo>
                <a:lnTo>
                  <a:pt x="1474170" y="983236"/>
                </a:lnTo>
                <a:lnTo>
                  <a:pt x="127097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0" l="-3328" r="-3327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502452" y="1575568"/>
            <a:ext cx="318303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Highlights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4"/>
          <p:cNvGrpSpPr/>
          <p:nvPr/>
        </p:nvGrpSpPr>
        <p:grpSpPr>
          <a:xfrm>
            <a:off x="11772121" y="-964407"/>
            <a:ext cx="11709920" cy="11819796"/>
            <a:chOff x="0" y="-57150"/>
            <a:chExt cx="693921" cy="700432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693921" cy="643282"/>
            </a:xfrm>
            <a:custGeom>
              <a:rect b="b" l="l" r="r" t="t"/>
              <a:pathLst>
                <a:path extrusionOk="0" h="643282" w="693921">
                  <a:moveTo>
                    <a:pt x="203200" y="0"/>
                  </a:moveTo>
                  <a:lnTo>
                    <a:pt x="693921" y="0"/>
                  </a:lnTo>
                  <a:lnTo>
                    <a:pt x="490721" y="643282"/>
                  </a:lnTo>
                  <a:lnTo>
                    <a:pt x="0" y="6432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25" name="Google Shape;125;p4"/>
            <p:cNvSpPr txBox="1"/>
            <p:nvPr/>
          </p:nvSpPr>
          <p:spPr>
            <a:xfrm>
              <a:off x="101600" y="-57150"/>
              <a:ext cx="490721" cy="70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4"/>
          <p:cNvSpPr/>
          <p:nvPr/>
        </p:nvSpPr>
        <p:spPr>
          <a:xfrm rot="6435412">
            <a:off x="10459699" y="2098839"/>
            <a:ext cx="12772728" cy="6089323"/>
          </a:xfrm>
          <a:custGeom>
            <a:rect b="b" l="l" r="r" t="t"/>
            <a:pathLst>
              <a:path extrusionOk="0" h="707547" w="1484122">
                <a:moveTo>
                  <a:pt x="1280922" y="0"/>
                </a:moveTo>
                <a:lnTo>
                  <a:pt x="0" y="0"/>
                </a:lnTo>
                <a:lnTo>
                  <a:pt x="203200" y="707547"/>
                </a:lnTo>
                <a:lnTo>
                  <a:pt x="1484122" y="707547"/>
                </a:lnTo>
                <a:lnTo>
                  <a:pt x="1280922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15582" l="0" r="0" t="-15582"/>
            </a:stretch>
          </a:blip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58239" y="124163"/>
            <a:ext cx="13494367" cy="1130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5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PROS-CONS</a:t>
            </a:r>
            <a:endParaRPr/>
          </a:p>
        </p:txBody>
      </p:sp>
      <p:cxnSp>
        <p:nvCxnSpPr>
          <p:cNvPr id="128" name="Google Shape;128;p4"/>
          <p:cNvCxnSpPr/>
          <p:nvPr/>
        </p:nvCxnSpPr>
        <p:spPr>
          <a:xfrm flipH="1" rot="10800000">
            <a:off x="0" y="1254398"/>
            <a:ext cx="5183582" cy="42862"/>
          </a:xfrm>
          <a:prstGeom prst="straightConnector1">
            <a:avLst/>
          </a:prstGeom>
          <a:noFill/>
          <a:ln cap="flat" cmpd="sng" w="85725">
            <a:solidFill>
              <a:srgbClr val="3656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4"/>
          <p:cNvSpPr txBox="1"/>
          <p:nvPr/>
        </p:nvSpPr>
        <p:spPr>
          <a:xfrm>
            <a:off x="221909" y="1457966"/>
            <a:ext cx="11821995" cy="850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Security: Prevents SQL injection.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Integrity: Ensures data accuracy.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Performance: Speeds up data retrieval.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Flexibility: Customizable searches.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Recovery: Maintains system stability.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Complexity: Adds development complexity.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Overhead: Mismanaged indexing can slow the database.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Maintenance Effort: Requires ongoing effort.</a:t>
            </a:r>
            <a:endParaRPr/>
          </a:p>
          <a:p>
            <a:pPr indent="-375102" lvl="1" marL="750205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4"/>
              <a:buFont typeface="Arial"/>
              <a:buChar char="•"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Resource Usage: Demands more resources.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5"/>
          <p:cNvCxnSpPr/>
          <p:nvPr/>
        </p:nvCxnSpPr>
        <p:spPr>
          <a:xfrm flipH="1" rot="10800000">
            <a:off x="-453390" y="1014412"/>
            <a:ext cx="13181684" cy="28575"/>
          </a:xfrm>
          <a:prstGeom prst="straightConnector1">
            <a:avLst/>
          </a:prstGeom>
          <a:noFill/>
          <a:ln cap="flat" cmpd="sng" w="57150">
            <a:solidFill>
              <a:srgbClr val="3656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5"/>
          <p:cNvSpPr txBox="1"/>
          <p:nvPr/>
        </p:nvSpPr>
        <p:spPr>
          <a:xfrm>
            <a:off x="0" y="80488"/>
            <a:ext cx="15089362" cy="746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45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 Adopted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0" y="1120711"/>
            <a:ext cx="13288175" cy="8917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5439" lvl="1" marL="610880" marR="0" rtl="0" algn="just">
              <a:lnSpc>
                <a:spcPct val="157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9"/>
              <a:buFont typeface="Arial"/>
              <a:buChar char="•"/>
            </a:pPr>
            <a:r>
              <a:rPr b="1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Transaction Management:</a:t>
            </a:r>
            <a:r>
              <a:rPr b="0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Ensured reliable ACID-compliant operations using mysqli_begin_transaction(), mysqli_commit(), and mysqli_rollback().</a:t>
            </a:r>
            <a:endParaRPr/>
          </a:p>
          <a:p>
            <a:pPr indent="-305439" lvl="1" marL="610880" marR="0" rtl="0" algn="just">
              <a:lnSpc>
                <a:spcPct val="157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9"/>
              <a:buFont typeface="Arial"/>
              <a:buChar char="•"/>
            </a:pPr>
            <a:r>
              <a:rPr b="1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Prepared Statements:</a:t>
            </a:r>
            <a:r>
              <a:rPr b="0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Implemented parameterized queries to prevent SQL injection and improve database security.</a:t>
            </a:r>
            <a:endParaRPr/>
          </a:p>
          <a:p>
            <a:pPr indent="-305439" lvl="1" marL="610880" marR="0" rtl="0" algn="just">
              <a:lnSpc>
                <a:spcPct val="157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9"/>
              <a:buFont typeface="Arial"/>
              <a:buChar char="•"/>
            </a:pPr>
            <a:r>
              <a:rPr b="1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Error Handling:</a:t>
            </a:r>
            <a:r>
              <a:rPr b="0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Used try-catch blocks and error logging (error_log()) for debugging and system stability.</a:t>
            </a:r>
            <a:endParaRPr/>
          </a:p>
          <a:p>
            <a:pPr indent="-305439" lvl="1" marL="610880" marR="0" rtl="0" algn="just">
              <a:lnSpc>
                <a:spcPct val="157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9"/>
              <a:buFont typeface="Arial"/>
              <a:buChar char="•"/>
            </a:pPr>
            <a:r>
              <a:rPr b="1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Indexing:</a:t>
            </a:r>
            <a:r>
              <a:rPr b="0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Created indexes for high-volume tables to enhance data retrieval speed. Utilized composite indexes for complex multi-column queries.</a:t>
            </a:r>
            <a:endParaRPr/>
          </a:p>
          <a:p>
            <a:pPr indent="-305439" lvl="1" marL="610880" marR="0" rtl="0" algn="just">
              <a:lnSpc>
                <a:spcPct val="157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9"/>
              <a:buFont typeface="Arial"/>
              <a:buChar char="•"/>
            </a:pPr>
            <a:r>
              <a:rPr b="1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Data Validation: </a:t>
            </a:r>
            <a:r>
              <a:rPr b="0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Applied field, range, and regex validation to prevent erroneous data entry.</a:t>
            </a:r>
            <a:endParaRPr/>
          </a:p>
          <a:p>
            <a:pPr indent="-305439" lvl="1" marL="610880" marR="0" rtl="0" algn="just">
              <a:lnSpc>
                <a:spcPct val="157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9"/>
              <a:buFont typeface="Arial"/>
              <a:buChar char="•"/>
            </a:pPr>
            <a:r>
              <a:rPr b="1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User Authentication:</a:t>
            </a:r>
            <a:r>
              <a:rPr b="0" i="0" lang="en-US" sz="2829" u="none" cap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Implemented secure password storage using password_hash() and session management with session_start().</a:t>
            </a:r>
            <a:endParaRPr/>
          </a:p>
          <a:p>
            <a:pPr indent="0" lvl="0" marL="0" marR="0" rtl="0" algn="ctr">
              <a:lnSpc>
                <a:spcPct val="157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9" u="none" cap="none" strike="noStrike">
                <a:solidFill>
                  <a:srgbClr val="2039A5"/>
                </a:solidFill>
                <a:latin typeface="Quicksand"/>
                <a:ea typeface="Quicksand"/>
                <a:cs typeface="Quicksand"/>
                <a:sym typeface="Quicksand"/>
              </a:rPr>
              <a:t>These methods collectively contribute to the reliability, security, and scalability of the portal, demonstrating its value as a robust academic management tool.</a:t>
            </a:r>
            <a:endParaRPr/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29" u="none" cap="none" strike="noStrike">
              <a:solidFill>
                <a:srgbClr val="2039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37" name="Google Shape;137;p5"/>
          <p:cNvGrpSpPr/>
          <p:nvPr/>
        </p:nvGrpSpPr>
        <p:grpSpPr>
          <a:xfrm rot="10032373">
            <a:off x="11960961" y="-1484685"/>
            <a:ext cx="12379272" cy="12544423"/>
            <a:chOff x="0" y="-57150"/>
            <a:chExt cx="853424" cy="864809"/>
          </a:xfrm>
        </p:grpSpPr>
        <p:sp>
          <p:nvSpPr>
            <p:cNvPr id="138" name="Google Shape;138;p5"/>
            <p:cNvSpPr/>
            <p:nvPr/>
          </p:nvSpPr>
          <p:spPr>
            <a:xfrm>
              <a:off x="0" y="0"/>
              <a:ext cx="853424" cy="807659"/>
            </a:xfrm>
            <a:custGeom>
              <a:rect b="b" l="l" r="r" t="t"/>
              <a:pathLst>
                <a:path extrusionOk="0" h="807659" w="853424">
                  <a:moveTo>
                    <a:pt x="203200" y="0"/>
                  </a:moveTo>
                  <a:lnTo>
                    <a:pt x="853424" y="0"/>
                  </a:lnTo>
                  <a:lnTo>
                    <a:pt x="650224" y="807659"/>
                  </a:lnTo>
                  <a:lnTo>
                    <a:pt x="0" y="80765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39" name="Google Shape;139;p5"/>
            <p:cNvSpPr txBox="1"/>
            <p:nvPr/>
          </p:nvSpPr>
          <p:spPr>
            <a:xfrm>
              <a:off x="101600" y="-57150"/>
              <a:ext cx="650224" cy="864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5"/>
          <p:cNvSpPr/>
          <p:nvPr/>
        </p:nvSpPr>
        <p:spPr>
          <a:xfrm rot="5484267">
            <a:off x="11279773" y="517023"/>
            <a:ext cx="13011397" cy="8678290"/>
          </a:xfrm>
          <a:custGeom>
            <a:rect b="b" l="l" r="r" t="t"/>
            <a:pathLst>
              <a:path extrusionOk="0" h="983236" w="1474170">
                <a:moveTo>
                  <a:pt x="1270970" y="0"/>
                </a:moveTo>
                <a:lnTo>
                  <a:pt x="0" y="0"/>
                </a:lnTo>
                <a:lnTo>
                  <a:pt x="203200" y="983236"/>
                </a:lnTo>
                <a:lnTo>
                  <a:pt x="1474170" y="983236"/>
                </a:lnTo>
                <a:lnTo>
                  <a:pt x="127097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0" l="-3328" r="-3327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6"/>
          <p:cNvGrpSpPr/>
          <p:nvPr/>
        </p:nvGrpSpPr>
        <p:grpSpPr>
          <a:xfrm>
            <a:off x="11069664" y="-828984"/>
            <a:ext cx="12379272" cy="11570242"/>
            <a:chOff x="0" y="-57150"/>
            <a:chExt cx="853424" cy="797650"/>
          </a:xfrm>
        </p:grpSpPr>
        <p:sp>
          <p:nvSpPr>
            <p:cNvPr id="146" name="Google Shape;146;p6"/>
            <p:cNvSpPr/>
            <p:nvPr/>
          </p:nvSpPr>
          <p:spPr>
            <a:xfrm>
              <a:off x="0" y="0"/>
              <a:ext cx="853424" cy="740500"/>
            </a:xfrm>
            <a:custGeom>
              <a:rect b="b" l="l" r="r" t="t"/>
              <a:pathLst>
                <a:path extrusionOk="0" h="740500" w="853424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47" name="Google Shape;147;p6"/>
            <p:cNvSpPr txBox="1"/>
            <p:nvPr/>
          </p:nvSpPr>
          <p:spPr>
            <a:xfrm>
              <a:off x="101600" y="-57150"/>
              <a:ext cx="650224" cy="79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6"/>
          <p:cNvSpPr txBox="1"/>
          <p:nvPr/>
        </p:nvSpPr>
        <p:spPr>
          <a:xfrm>
            <a:off x="2230" y="384383"/>
            <a:ext cx="12447136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Features</a:t>
            </a:r>
            <a:endParaRPr/>
          </a:p>
        </p:txBody>
      </p:sp>
      <p:cxnSp>
        <p:nvCxnSpPr>
          <p:cNvPr id="149" name="Google Shape;149;p6"/>
          <p:cNvCxnSpPr/>
          <p:nvPr/>
        </p:nvCxnSpPr>
        <p:spPr>
          <a:xfrm>
            <a:off x="-4466249" y="1557545"/>
            <a:ext cx="9692992" cy="0"/>
          </a:xfrm>
          <a:prstGeom prst="straightConnector1">
            <a:avLst/>
          </a:prstGeom>
          <a:noFill/>
          <a:ln cap="flat" cmpd="sng" w="85725">
            <a:solidFill>
              <a:srgbClr val="3656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6"/>
          <p:cNvSpPr txBox="1"/>
          <p:nvPr/>
        </p:nvSpPr>
        <p:spPr>
          <a:xfrm>
            <a:off x="2230" y="1744228"/>
            <a:ext cx="11317401" cy="7506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66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Transaction Management:</a:t>
            </a:r>
            <a:r>
              <a:rPr b="0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data integrity by treating a series of database operations as a single unit, rolling back changes in case of errors. </a:t>
            </a:r>
            <a:endParaRPr/>
          </a:p>
          <a:p>
            <a:pPr indent="0" lvl="0" marL="0" marR="0" rtl="0" algn="just">
              <a:lnSpc>
                <a:spcPct val="166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Prepared Statements:</a:t>
            </a:r>
            <a:r>
              <a:rPr b="0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Prevents SQL injection and improves performance by precompiling SQL queries with placeholders for user input.</a:t>
            </a:r>
            <a:endParaRPr/>
          </a:p>
          <a:p>
            <a:pPr indent="0" lvl="0" marL="0" marR="0" rtl="0" algn="just">
              <a:lnSpc>
                <a:spcPct val="166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Error Handling and Recovery</a:t>
            </a:r>
            <a:r>
              <a:rPr b="0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Gracefully handles unexpected errors, rolls back transactions, logs errors, and provides user-friendly feedback. </a:t>
            </a:r>
            <a:endParaRPr/>
          </a:p>
          <a:p>
            <a:pPr indent="0" lvl="0" marL="0" marR="0" rtl="0" algn="just">
              <a:lnSpc>
                <a:spcPct val="166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Indexing:</a:t>
            </a:r>
            <a:r>
              <a:rPr b="0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Speeds up data retrieval by creating indexes on frequently queried columns, improving query performance, especially in large datasets. </a:t>
            </a:r>
            <a:endParaRPr/>
          </a:p>
          <a:p>
            <a:pPr indent="0" lvl="0" marL="0" marR="0" rtl="0" algn="just">
              <a:lnSpc>
                <a:spcPct val="166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Data Validation:</a:t>
            </a:r>
            <a:r>
              <a:rPr b="0" i="0" lang="en-US" sz="22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data integrity by validating user input before storing it in the database, preventing errors and malicious input.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 rot="6340523">
            <a:off x="10176785" y="1457105"/>
            <a:ext cx="12772728" cy="7827049"/>
          </a:xfrm>
          <a:custGeom>
            <a:rect b="b" l="l" r="r" t="t"/>
            <a:pathLst>
              <a:path extrusionOk="0" h="909461" w="1484122">
                <a:moveTo>
                  <a:pt x="1280922" y="0"/>
                </a:moveTo>
                <a:lnTo>
                  <a:pt x="0" y="0"/>
                </a:lnTo>
                <a:lnTo>
                  <a:pt x="203200" y="909461"/>
                </a:lnTo>
                <a:lnTo>
                  <a:pt x="1484122" y="909461"/>
                </a:lnTo>
                <a:lnTo>
                  <a:pt x="1280922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1022" l="0" r="0" t="-1022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7"/>
          <p:cNvGrpSpPr/>
          <p:nvPr/>
        </p:nvGrpSpPr>
        <p:grpSpPr>
          <a:xfrm>
            <a:off x="11069664" y="-828984"/>
            <a:ext cx="12379272" cy="11570242"/>
            <a:chOff x="0" y="-57150"/>
            <a:chExt cx="853424" cy="797650"/>
          </a:xfrm>
        </p:grpSpPr>
        <p:sp>
          <p:nvSpPr>
            <p:cNvPr id="157" name="Google Shape;157;p7"/>
            <p:cNvSpPr/>
            <p:nvPr/>
          </p:nvSpPr>
          <p:spPr>
            <a:xfrm>
              <a:off x="0" y="0"/>
              <a:ext cx="853424" cy="740500"/>
            </a:xfrm>
            <a:custGeom>
              <a:rect b="b" l="l" r="r" t="t"/>
              <a:pathLst>
                <a:path extrusionOk="0" h="740500" w="853424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58" name="Google Shape;158;p7"/>
            <p:cNvSpPr txBox="1"/>
            <p:nvPr/>
          </p:nvSpPr>
          <p:spPr>
            <a:xfrm>
              <a:off x="101600" y="-57150"/>
              <a:ext cx="650224" cy="79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7"/>
          <p:cNvSpPr txBox="1"/>
          <p:nvPr/>
        </p:nvSpPr>
        <p:spPr>
          <a:xfrm>
            <a:off x="2230" y="384383"/>
            <a:ext cx="12447136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Features</a:t>
            </a:r>
            <a:endParaRPr/>
          </a:p>
        </p:txBody>
      </p:sp>
      <p:cxnSp>
        <p:nvCxnSpPr>
          <p:cNvPr id="160" name="Google Shape;160;p7"/>
          <p:cNvCxnSpPr/>
          <p:nvPr/>
        </p:nvCxnSpPr>
        <p:spPr>
          <a:xfrm>
            <a:off x="-4466249" y="1557545"/>
            <a:ext cx="9692992" cy="0"/>
          </a:xfrm>
          <a:prstGeom prst="straightConnector1">
            <a:avLst/>
          </a:prstGeom>
          <a:noFill/>
          <a:ln cap="flat" cmpd="sng" w="85725">
            <a:solidFill>
              <a:srgbClr val="3656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7"/>
          <p:cNvSpPr txBox="1"/>
          <p:nvPr/>
        </p:nvSpPr>
        <p:spPr>
          <a:xfrm>
            <a:off x="152012" y="1871301"/>
            <a:ext cx="11826707" cy="6347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67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Data Retrieval:</a:t>
            </a:r>
            <a:r>
              <a:rPr b="0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Efficiently retrieves data from the database using SQL queries and processes it for display or further analysis. </a:t>
            </a:r>
            <a:r>
              <a:rPr b="1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User Authentication and Session Management:</a:t>
            </a:r>
            <a:r>
              <a:rPr b="0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Secures the system by verifying user identities and tracking their sessions to protect sensitive data. </a:t>
            </a:r>
            <a:endParaRPr/>
          </a:p>
          <a:p>
            <a:pPr indent="0" lvl="0" marL="0" marR="0" rtl="0" algn="just">
              <a:lnSpc>
                <a:spcPct val="167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Data Privacy:</a:t>
            </a:r>
            <a:r>
              <a:rPr b="0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Protects user data by masking sensitive information and ensuring that only authorized users can access it. </a:t>
            </a:r>
            <a:r>
              <a:rPr b="1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Reporting:</a:t>
            </a:r>
            <a:r>
              <a:rPr b="0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Generates insightful reports by analyzing and visualizing data, helping administrators make informed decisions. </a:t>
            </a:r>
            <a:r>
              <a:rPr b="1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Dynamic Query Building:</a:t>
            </a:r>
            <a:r>
              <a:rPr b="0" i="0" lang="en-US" sz="23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Allows users to customize data retrieval by constructing SQL queries on-the-fly based on their preferences, enhancing flexibility and user experience.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 rot="6340523">
            <a:off x="10176785" y="1457105"/>
            <a:ext cx="12772728" cy="7827049"/>
          </a:xfrm>
          <a:custGeom>
            <a:rect b="b" l="l" r="r" t="t"/>
            <a:pathLst>
              <a:path extrusionOk="0" h="909461" w="1484122">
                <a:moveTo>
                  <a:pt x="1280922" y="0"/>
                </a:moveTo>
                <a:lnTo>
                  <a:pt x="0" y="0"/>
                </a:lnTo>
                <a:lnTo>
                  <a:pt x="203200" y="909461"/>
                </a:lnTo>
                <a:lnTo>
                  <a:pt x="1484122" y="909461"/>
                </a:lnTo>
                <a:lnTo>
                  <a:pt x="1280922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1022" l="0" r="0" t="-1022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8"/>
          <p:cNvGrpSpPr/>
          <p:nvPr/>
        </p:nvGrpSpPr>
        <p:grpSpPr>
          <a:xfrm>
            <a:off x="11069664" y="-828984"/>
            <a:ext cx="12379272" cy="11570242"/>
            <a:chOff x="0" y="-57150"/>
            <a:chExt cx="853424" cy="797650"/>
          </a:xfrm>
        </p:grpSpPr>
        <p:sp>
          <p:nvSpPr>
            <p:cNvPr id="168" name="Google Shape;168;p8"/>
            <p:cNvSpPr/>
            <p:nvPr/>
          </p:nvSpPr>
          <p:spPr>
            <a:xfrm>
              <a:off x="0" y="0"/>
              <a:ext cx="853424" cy="740500"/>
            </a:xfrm>
            <a:custGeom>
              <a:rect b="b" l="l" r="r" t="t"/>
              <a:pathLst>
                <a:path extrusionOk="0" h="740500" w="853424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69" name="Google Shape;169;p8"/>
            <p:cNvSpPr txBox="1"/>
            <p:nvPr/>
          </p:nvSpPr>
          <p:spPr>
            <a:xfrm>
              <a:off x="101600" y="-57150"/>
              <a:ext cx="650224" cy="79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8"/>
          <p:cNvSpPr txBox="1"/>
          <p:nvPr/>
        </p:nvSpPr>
        <p:spPr>
          <a:xfrm>
            <a:off x="2230" y="384383"/>
            <a:ext cx="12447136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Outcome &amp; Conclusion</a:t>
            </a:r>
            <a:endParaRPr/>
          </a:p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999" u="none" cap="none" strike="noStrike">
              <a:solidFill>
                <a:srgbClr val="2B485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171" name="Google Shape;171;p8"/>
          <p:cNvCxnSpPr/>
          <p:nvPr/>
        </p:nvCxnSpPr>
        <p:spPr>
          <a:xfrm>
            <a:off x="2230" y="1559133"/>
            <a:ext cx="9692992" cy="0"/>
          </a:xfrm>
          <a:prstGeom prst="straightConnector1">
            <a:avLst/>
          </a:prstGeom>
          <a:noFill/>
          <a:ln cap="flat" cmpd="sng" w="85725">
            <a:solidFill>
              <a:srgbClr val="3656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8"/>
          <p:cNvSpPr txBox="1"/>
          <p:nvPr/>
        </p:nvSpPr>
        <p:spPr>
          <a:xfrm>
            <a:off x="194263" y="1793044"/>
            <a:ext cx="11295520" cy="697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Findings &amp; Learnings:</a:t>
            </a:r>
            <a:endParaRPr/>
          </a:p>
          <a:p>
            <a:pPr indent="-254965" lvl="1" marL="509929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1"/>
              <a:buFont typeface="Arial"/>
              <a:buChar char="•"/>
            </a:pPr>
            <a:r>
              <a:rPr b="0" i="0" lang="en-US" sz="23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data integrity with ACID-compliant transaction management.</a:t>
            </a:r>
            <a:endParaRPr/>
          </a:p>
          <a:p>
            <a:pPr indent="-254965" lvl="1" marL="509929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1"/>
              <a:buFont typeface="Arial"/>
              <a:buChar char="•"/>
            </a:pPr>
            <a:r>
              <a:rPr b="0" i="0" lang="en-US" sz="23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system security through prepared statements and secure authentication.</a:t>
            </a:r>
            <a:endParaRPr/>
          </a:p>
          <a:p>
            <a:pPr indent="-254965" lvl="1" marL="509929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1"/>
              <a:buFont typeface="Arial"/>
              <a:buChar char="•"/>
            </a:pPr>
            <a:r>
              <a:rPr b="0" i="0" lang="en-US" sz="23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data retrieval with proper indexing techniques, reducing loading times by up to 30%.</a:t>
            </a:r>
            <a:endParaRPr/>
          </a:p>
          <a:p>
            <a:pPr indent="0" lvl="0" marL="0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6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 of Future Extension:</a:t>
            </a:r>
            <a:endParaRPr/>
          </a:p>
          <a:p>
            <a:pPr indent="-254965" lvl="1" marL="509929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1"/>
              <a:buFont typeface="Arial"/>
              <a:buChar char="•"/>
            </a:pPr>
            <a:r>
              <a:rPr b="0" i="0" lang="en-US" sz="23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more advanced reporting tools for deeper data insights.</a:t>
            </a:r>
            <a:endParaRPr/>
          </a:p>
          <a:p>
            <a:pPr indent="-254965" lvl="1" marL="509929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1"/>
              <a:buFont typeface="Arial"/>
              <a:buChar char="•"/>
            </a:pPr>
            <a:r>
              <a:rPr b="0" i="0" lang="en-US" sz="23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the portal's capabilities to include predictive analysis using AI/ML for student performance.</a:t>
            </a:r>
            <a:endParaRPr/>
          </a:p>
          <a:p>
            <a:pPr indent="0" lvl="0" marL="0" marR="0" rtl="0" algn="just">
              <a:lnSpc>
                <a:spcPct val="167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6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 rot="6340523">
            <a:off x="10176785" y="1457105"/>
            <a:ext cx="12772728" cy="7827049"/>
          </a:xfrm>
          <a:custGeom>
            <a:rect b="b" l="l" r="r" t="t"/>
            <a:pathLst>
              <a:path extrusionOk="0" h="909461" w="1484122">
                <a:moveTo>
                  <a:pt x="1280922" y="0"/>
                </a:moveTo>
                <a:lnTo>
                  <a:pt x="0" y="0"/>
                </a:lnTo>
                <a:lnTo>
                  <a:pt x="203200" y="909461"/>
                </a:lnTo>
                <a:lnTo>
                  <a:pt x="1484122" y="909461"/>
                </a:lnTo>
                <a:lnTo>
                  <a:pt x="1280922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1022" l="0" r="0" t="-1022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9"/>
          <p:cNvGrpSpPr/>
          <p:nvPr/>
        </p:nvGrpSpPr>
        <p:grpSpPr>
          <a:xfrm>
            <a:off x="11069664" y="-828984"/>
            <a:ext cx="12379272" cy="11570242"/>
            <a:chOff x="0" y="-57150"/>
            <a:chExt cx="853424" cy="797650"/>
          </a:xfrm>
        </p:grpSpPr>
        <p:sp>
          <p:nvSpPr>
            <p:cNvPr id="179" name="Google Shape;179;p9"/>
            <p:cNvSpPr/>
            <p:nvPr/>
          </p:nvSpPr>
          <p:spPr>
            <a:xfrm>
              <a:off x="0" y="0"/>
              <a:ext cx="853424" cy="740500"/>
            </a:xfrm>
            <a:custGeom>
              <a:rect b="b" l="l" r="r" t="t"/>
              <a:pathLst>
                <a:path extrusionOk="0" h="740500" w="853424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  <a:ln>
              <a:noFill/>
            </a:ln>
          </p:spPr>
        </p:sp>
        <p:sp>
          <p:nvSpPr>
            <p:cNvPr id="180" name="Google Shape;180;p9"/>
            <p:cNvSpPr txBox="1"/>
            <p:nvPr/>
          </p:nvSpPr>
          <p:spPr>
            <a:xfrm>
              <a:off x="101600" y="-57150"/>
              <a:ext cx="650224" cy="79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9"/>
          <p:cNvSpPr txBox="1"/>
          <p:nvPr/>
        </p:nvSpPr>
        <p:spPr>
          <a:xfrm>
            <a:off x="336704" y="415609"/>
            <a:ext cx="11295520" cy="7013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16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 of Innovation:</a:t>
            </a:r>
            <a:r>
              <a:rPr b="0" i="0" lang="en-US" sz="28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08938" lvl="1" marL="617877" marR="0" rtl="0" algn="just">
              <a:lnSpc>
                <a:spcPct val="216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1"/>
              <a:buFont typeface="Arial"/>
              <a:buChar char="•"/>
            </a:pPr>
            <a:r>
              <a:rPr b="0" i="0" lang="en-US" sz="28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Successfully implemented dynamic query building to allow flexible user-defined searches.</a:t>
            </a:r>
            <a:endParaRPr/>
          </a:p>
          <a:p>
            <a:pPr indent="-308938" lvl="1" marL="617877" marR="0" rtl="0" algn="just">
              <a:lnSpc>
                <a:spcPct val="216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1"/>
              <a:buFont typeface="Arial"/>
              <a:buChar char="•"/>
            </a:pPr>
            <a:r>
              <a:rPr b="0" i="0" lang="en-US" sz="28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backend operations for large datasets, ensuring scalability.</a:t>
            </a:r>
            <a:endParaRPr/>
          </a:p>
          <a:p>
            <a:pPr indent="0" lvl="0" marL="0" marR="0" rtl="0" algn="just">
              <a:lnSpc>
                <a:spcPct val="216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Contribution:</a:t>
            </a:r>
            <a:endParaRPr/>
          </a:p>
          <a:p>
            <a:pPr indent="-308938" lvl="1" marL="617877" marR="0" rtl="0" algn="just">
              <a:lnSpc>
                <a:spcPct val="216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1"/>
              <a:buFont typeface="Arial"/>
              <a:buChar char="•"/>
            </a:pPr>
            <a:r>
              <a:rPr b="0" i="0" lang="en-US" sz="28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Sujay: Database Security and Validation</a:t>
            </a:r>
            <a:endParaRPr/>
          </a:p>
          <a:p>
            <a:pPr indent="-308938" lvl="1" marL="617877" marR="0" rtl="0" algn="just">
              <a:lnSpc>
                <a:spcPct val="216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1"/>
              <a:buFont typeface="Arial"/>
              <a:buChar char="•"/>
            </a:pPr>
            <a:r>
              <a:rPr b="0" i="0" lang="en-US" sz="28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Aiswarya and Nikshiptha:  </a:t>
            </a:r>
            <a:endParaRPr/>
          </a:p>
          <a:p>
            <a:pPr indent="0" lvl="0" marL="0" marR="0" rtl="0" algn="just">
              <a:lnSpc>
                <a:spcPct val="216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6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 rot="6340523">
            <a:off x="10176785" y="1457105"/>
            <a:ext cx="12772728" cy="7827049"/>
          </a:xfrm>
          <a:custGeom>
            <a:rect b="b" l="l" r="r" t="t"/>
            <a:pathLst>
              <a:path extrusionOk="0" h="909461" w="1484122">
                <a:moveTo>
                  <a:pt x="1280922" y="0"/>
                </a:moveTo>
                <a:lnTo>
                  <a:pt x="0" y="0"/>
                </a:lnTo>
                <a:lnTo>
                  <a:pt x="203200" y="909461"/>
                </a:lnTo>
                <a:lnTo>
                  <a:pt x="1484122" y="909461"/>
                </a:lnTo>
                <a:lnTo>
                  <a:pt x="1280922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1022" l="0" r="0" t="-1022"/>
            </a:stretch>
          </a:blipFill>
          <a:ln>
            <a:noFill/>
          </a:ln>
        </p:spPr>
      </p:sp>
      <p:sp>
        <p:nvSpPr>
          <p:cNvPr id="183" name="Google Shape;183;p9"/>
          <p:cNvSpPr txBox="1"/>
          <p:nvPr/>
        </p:nvSpPr>
        <p:spPr>
          <a:xfrm>
            <a:off x="3087646" y="5776689"/>
            <a:ext cx="11295520" cy="3855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339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144" lvl="1" marL="596287" marR="0" rtl="0" algn="just">
              <a:lnSpc>
                <a:spcPct val="221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1"/>
              <a:buFont typeface="Arial"/>
              <a:buAutoNum type="arabicPeriod"/>
            </a:pPr>
            <a:r>
              <a:rPr b="0" i="0" lang="en-US" sz="2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Design and Initialization</a:t>
            </a:r>
            <a:endParaRPr/>
          </a:p>
          <a:p>
            <a:pPr indent="-298144" lvl="1" marL="596287" marR="0" rtl="0" algn="just">
              <a:lnSpc>
                <a:spcPct val="221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1"/>
              <a:buFont typeface="Arial"/>
              <a:buAutoNum type="arabicPeriod"/>
            </a:pPr>
            <a:r>
              <a:rPr b="0" i="0" lang="en-US" sz="27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Optimization</a:t>
            </a:r>
            <a:endParaRPr/>
          </a:p>
          <a:p>
            <a:pPr indent="0" lvl="0" marL="0" marR="0" rtl="0" algn="just">
              <a:lnSpc>
                <a:spcPct val="221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6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1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6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-333337"/>
            <a:ext cx="18579442" cy="12378553"/>
          </a:xfrm>
          <a:custGeom>
            <a:rect b="b" l="l" r="r" t="t"/>
            <a:pathLst>
              <a:path extrusionOk="0" h="12378553" w="18579442">
                <a:moveTo>
                  <a:pt x="0" y="0"/>
                </a:moveTo>
                <a:lnTo>
                  <a:pt x="18579442" y="0"/>
                </a:lnTo>
                <a:lnTo>
                  <a:pt x="18579442" y="12378553"/>
                </a:lnTo>
                <a:lnTo>
                  <a:pt x="0" y="12378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0"/>
          <p:cNvSpPr txBox="1"/>
          <p:nvPr/>
        </p:nvSpPr>
        <p:spPr>
          <a:xfrm>
            <a:off x="1618837" y="2669342"/>
            <a:ext cx="15341768" cy="348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6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1" u="none" cap="none" strike="noStrike">
                <a:solidFill>
                  <a:srgbClr val="2B48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-551756" y="4810163"/>
            <a:ext cx="6073106" cy="5476837"/>
          </a:xfrm>
          <a:custGeom>
            <a:rect b="b" l="l" r="r" t="t"/>
            <a:pathLst>
              <a:path extrusionOk="0" h="5476837" w="6073106">
                <a:moveTo>
                  <a:pt x="0" y="0"/>
                </a:moveTo>
                <a:lnTo>
                  <a:pt x="6073106" y="0"/>
                </a:lnTo>
                <a:lnTo>
                  <a:pt x="6073106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0"/>
          <p:cNvSpPr/>
          <p:nvPr/>
        </p:nvSpPr>
        <p:spPr>
          <a:xfrm rot="10800000">
            <a:off x="12506337" y="-333337"/>
            <a:ext cx="6073106" cy="5476837"/>
          </a:xfrm>
          <a:custGeom>
            <a:rect b="b" l="l" r="r" t="t"/>
            <a:pathLst>
              <a:path extrusionOk="0" h="5476837" w="6073106">
                <a:moveTo>
                  <a:pt x="0" y="0"/>
                </a:moveTo>
                <a:lnTo>
                  <a:pt x="6073105" y="0"/>
                </a:lnTo>
                <a:lnTo>
                  <a:pt x="6073105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